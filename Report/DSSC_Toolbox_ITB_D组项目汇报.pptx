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09e6a8682a4c73" /><Relationship Type="http://schemas.openxmlformats.org/officeDocument/2006/relationships/extended-properties" Target="/docProps/app.xml" Id="R0a56dd0c52c5415f" /><Relationship Type="http://schemas.openxmlformats.org/officeDocument/2006/relationships/officeDocument" Target="/ppt/presentation.xml" Id="Rcafcb07184ee4c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abfe6d08084bb9"/>
  </p:sldMasterIdLst>
  <p:notesMasterIdLst>
    <p:notesMasterId xmlns:r="http://schemas.openxmlformats.org/officeDocument/2006/relationships" r:id="R37fd4028415e47e0"/>
  </p:notesMasterIdLst>
  <p:sldIdLst>
    <p:sldId xmlns:r="http://schemas.openxmlformats.org/officeDocument/2006/relationships" id="256" r:id="R9f6b0e90802b4f00"/>
    <p:sldId xmlns:r="http://schemas.openxmlformats.org/officeDocument/2006/relationships" id="257" r:id="R53e2c61ef6714079"/>
    <p:sldId xmlns:r="http://schemas.openxmlformats.org/officeDocument/2006/relationships" id="258" r:id="Rc4a749795d664989"/>
    <p:sldId xmlns:r="http://schemas.openxmlformats.org/officeDocument/2006/relationships" id="259" r:id="Re507eb6b43934f13"/>
    <p:sldId xmlns:r="http://schemas.openxmlformats.org/officeDocument/2006/relationships" id="260" r:id="Rba04c34572e74195"/>
    <p:sldId xmlns:r="http://schemas.openxmlformats.org/officeDocument/2006/relationships" id="261" r:id="Rc06e561ba25a4682"/>
    <p:sldId xmlns:r="http://schemas.openxmlformats.org/officeDocument/2006/relationships" id="262" r:id="R1285ba3eff37412f"/>
    <p:sldId xmlns:r="http://schemas.openxmlformats.org/officeDocument/2006/relationships" id="263" r:id="R6e88daec3ad64611"/>
    <p:sldId xmlns:r="http://schemas.openxmlformats.org/officeDocument/2006/relationships" id="264" r:id="R693cb4d3ed5048e0"/>
    <p:sldId xmlns:r="http://schemas.openxmlformats.org/officeDocument/2006/relationships" id="265" r:id="R40fb2ba034414202"/>
    <p:sldId xmlns:r="http://schemas.openxmlformats.org/officeDocument/2006/relationships" id="266" r:id="R7b2984099f954dd3"/>
    <p:sldId xmlns:r="http://schemas.openxmlformats.org/officeDocument/2006/relationships" id="267" r:id="R8f3d0cb2074d4b99"/>
    <p:sldId xmlns:r="http://schemas.openxmlformats.org/officeDocument/2006/relationships" id="268" r:id="R7da987dfe3ce48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0131263c1948ee" /><Relationship Type="http://schemas.openxmlformats.org/officeDocument/2006/relationships/slideMaster" Target="/ppt/slideMasters/slideMaster1.xml" Id="R5eabfe6d08084bb9" /><Relationship Type="http://schemas.openxmlformats.org/officeDocument/2006/relationships/notesMaster" Target="/ppt/notesMasters/notesMaster1.xml" Id="R37fd4028415e47e0" /><Relationship Type="http://schemas.openxmlformats.org/officeDocument/2006/relationships/presProps" Target="/ppt/presProps.xml" Id="Ra8842a008b02405a" /><Relationship Type="http://schemas.openxmlformats.org/officeDocument/2006/relationships/viewProps" Target="/ppt/viewProps.xml" Id="Ra4cac39eaa724ee9" /><Relationship Type="http://schemas.openxmlformats.org/officeDocument/2006/relationships/tableStyles" Target="/ppt/tableStyles.xml" Id="Rac2c5971f52647d6" /><Relationship Type="http://schemas.openxmlformats.org/officeDocument/2006/relationships/slide" Target="/ppt/slides/slide1.xml" Id="R9f6b0e90802b4f00" /><Relationship Type="http://schemas.openxmlformats.org/officeDocument/2006/relationships/slide" Target="/ppt/slides/slide2.xml" Id="R53e2c61ef6714079" /><Relationship Type="http://schemas.openxmlformats.org/officeDocument/2006/relationships/slide" Target="/ppt/slides/slide3.xml" Id="Rc4a749795d664989" /><Relationship Type="http://schemas.openxmlformats.org/officeDocument/2006/relationships/slide" Target="/ppt/slides/slide4.xml" Id="Re507eb6b43934f13" /><Relationship Type="http://schemas.openxmlformats.org/officeDocument/2006/relationships/slide" Target="/ppt/slides/slide5.xml" Id="Rba04c34572e74195" /><Relationship Type="http://schemas.openxmlformats.org/officeDocument/2006/relationships/slide" Target="/ppt/slides/slide6.xml" Id="Rc06e561ba25a4682" /><Relationship Type="http://schemas.openxmlformats.org/officeDocument/2006/relationships/slide" Target="/ppt/slides/slide7.xml" Id="R1285ba3eff37412f" /><Relationship Type="http://schemas.openxmlformats.org/officeDocument/2006/relationships/slide" Target="/ppt/slides/slide8.xml" Id="R6e88daec3ad64611" /><Relationship Type="http://schemas.openxmlformats.org/officeDocument/2006/relationships/slide" Target="/ppt/slides/slide9.xml" Id="R693cb4d3ed5048e0" /><Relationship Type="http://schemas.openxmlformats.org/officeDocument/2006/relationships/slide" Target="/ppt/slides/slide10.xml" Id="R40fb2ba034414202" /><Relationship Type="http://schemas.openxmlformats.org/officeDocument/2006/relationships/slide" Target="/ppt/slides/slide11.xml" Id="R7b2984099f954dd3" /><Relationship Type="http://schemas.openxmlformats.org/officeDocument/2006/relationships/slide" Target="/ppt/slides/slide12.xml" Id="R8f3d0cb2074d4b99" /><Relationship Type="http://schemas.openxmlformats.org/officeDocument/2006/relationships/slide" Target="/ppt/slides/slide13.xml" Id="R7da987dfe3ce48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407d52be2141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373d34f0544ff5" /><Relationship Type="http://schemas.openxmlformats.org/officeDocument/2006/relationships/notesMaster" Target="/ppt/notesMasters/notesMaster1.xml" Id="Rbe937f30bf2d4f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dcd06ebc4343dc" /><Relationship Type="http://schemas.openxmlformats.org/officeDocument/2006/relationships/notesMaster" Target="/ppt/notesMasters/notesMaster1.xml" Id="R98de931821ef4d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8c89574fb1432a" /><Relationship Type="http://schemas.openxmlformats.org/officeDocument/2006/relationships/notesMaster" Target="/ppt/notesMasters/notesMaster1.xml" Id="Rd06eb168246249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210f29ef8e4893" /><Relationship Type="http://schemas.openxmlformats.org/officeDocument/2006/relationships/notesMaster" Target="/ppt/notesMasters/notesMaster1.xml" Id="R27e57e38acf342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1ab79cb49843ff" /><Relationship Type="http://schemas.openxmlformats.org/officeDocument/2006/relationships/notesMaster" Target="/ppt/notesMasters/notesMaster1.xml" Id="Rba9498d6b24c4f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56945534c14b06" /><Relationship Type="http://schemas.openxmlformats.org/officeDocument/2006/relationships/notesMaster" Target="/ppt/notesMasters/notesMaster1.xml" Id="R0481e9b066164f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937ef157bb45bb" /><Relationship Type="http://schemas.openxmlformats.org/officeDocument/2006/relationships/notesMaster" Target="/ppt/notesMasters/notesMaster1.xml" Id="Ra32daf8bd2f54e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46f0b20ac949ca" /><Relationship Type="http://schemas.openxmlformats.org/officeDocument/2006/relationships/notesMaster" Target="/ppt/notesMasters/notesMaster1.xml" Id="Rd30a3846705349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354235a6c34d30" /><Relationship Type="http://schemas.openxmlformats.org/officeDocument/2006/relationships/notesMaster" Target="/ppt/notesMasters/notesMaster1.xml" Id="Rd243800fe17549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a9bf72bfe54a30" /><Relationship Type="http://schemas.openxmlformats.org/officeDocument/2006/relationships/notesMaster" Target="/ppt/notesMasters/notesMaster1.xml" Id="R5feb01219d9a4a9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10e65afad2421e" /><Relationship Type="http://schemas.openxmlformats.org/officeDocument/2006/relationships/notesMaster" Target="/ppt/notesMasters/notesMaster1.xml" Id="Re33daa75806a4d8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c2f6cd592c64075" /><Relationship Type="http://schemas.openxmlformats.org/officeDocument/2006/relationships/notesMaster" Target="/ppt/notesMasters/notesMaster1.xml" Id="R10efeea6b6894df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053c1fddf2d45bd" /><Relationship Type="http://schemas.openxmlformats.org/officeDocument/2006/relationships/notesMaster" Target="/ppt/notesMasters/notesMaster1.xml" Id="R471b7097f20741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开场说明：D 组负责可信数据空间中的 conformance testing 与 validation。本汇报重点讲清楚 ITB 是什么、如何运行，以及本项目如何把规则变成可执行测试。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D:/FromC/Working Materials/TIDE_DSSC/DSSC_Tool_Learning/ITB/Report/D_itb_overview.md</a:t>
            </a:r>
          </a:p>
          <a:p xmlns:a="http://schemas.openxmlformats.org/drawingml/2006/main">
            <a:r>
              <a:t>- D:/FromC/Working Materials/TIDE_DSSC/DSSC_Tool_Learning/ITB/Report/demo/05-itb-four-sessions.png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这一页先划清边界。ITB 是测试编排和证据管理平台，Validator 是执行具体规则的验证引擎。通过 ITB 的测试结果可支持数据空间准入决策。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https://www.itb.ec.europa.eu/docs/guides/latest/overview/</a:t>
            </a:r>
          </a:p>
          <a:p xmlns:a="http://schemas.openxmlformats.org/drawingml/2006/main">
            <a:r>
              <a:t>- D:/FromC/Working Materials/TIDE_DSSC/DSSC_Tool_Learning/ITB/Report/D_itb_overview.md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强调三个容易混淆的概念：Actor 是测试角色，System 是具体被测系统，Conformance Statement 将 System、Actor 与 Specification 关联起来。Test Session 则是一轮实际运行。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D:/FromC/Working Materials/TIDE_DSSC/DSSC_Tool_Learning/ITB/Report/D_itb_overview.md</a:t>
            </a:r>
          </a:p>
          <a:p xmlns:a="http://schemas.openxmlformats.org/drawingml/2006/main">
            <a:r>
              <a:t>- D:/FromC/Working Materials/TIDE_DSSC/DSSC_Tool_Learning/ITB/Report/ITB使用手册.md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先说明治理方配置 Domain、Specification、Actor 和 Test Suite。参与方建立 System，并通过 Conformance Statement 声明符合性，随后运行 Test Case，ITB 为每次执行创建 Test Session。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D:/FromC/Working Materials/TIDE_DSSC/DSSC_Tool_Learning/ITB/Report/D_itb_overview.md</a:t>
            </a:r>
          </a:p>
          <a:p xmlns:a="http://schemas.openxmlformats.org/drawingml/2006/main">
            <a:r>
              <a:t>- D:/FromC/Working Materials/TIDE_DSSC/DSSC_Tool_Learning/ITB/Report/ITB使用手册.md</a:t>
            </a:r>
          </a:p>
          <a:p xmlns:a="http://schemas.openxmlformats.org/drawingml/2006/main">
            <a:r>
              <a:t>- https://www.itb.ec.europa.eu/docs/tdl/latest/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这一页把上一页的通用生命周期实例化。报告中的 Organisation 是演示环境的 Admin organisation；逻辑上被测方是 Energy Data Provider。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D:/FromC/Working Materials/TIDE_DSSC/DSSC_Tool_Learning/ITB/Report/D_itb_test_suite_design.md</a:t>
            </a:r>
          </a:p>
          <a:p xmlns:a="http://schemas.openxmlformats.org/drawingml/2006/main">
            <a:r>
              <a:t>- D:/FromC/Working Materials/TIDE_DSSC/DSSC_Tool_Learning/ITB/Report/valid_TC01.pdf</a:t>
            </a:r>
          </a:p>
          <a:p xmlns:a="http://schemas.openxmlformats.org/drawingml/2006/main">
            <a:r>
              <a:t>- D:/FromC/Working Materials/TIDE_DSSC/DSSC_Tool_Learning/ITB/testsuite/testSuite.xml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不要把两种方式都称为独立 Validator。方案 A 是外部服务，由 ITB 通过 verify/SOAP 调用；方案 B 是直接在 Test Case 中组合 ITB Handler 和 Resources。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D:/FromC/Working Materials/TIDE_DSSC/DSSC_Tool_Learning/ITB/Report/D_itb_test_suite_design.md</a:t>
            </a:r>
          </a:p>
          <a:p xmlns:a="http://schemas.openxmlformats.org/drawingml/2006/main">
            <a:r>
              <a:t>- D:/FromC/Working Materials/TIDE_DSSC/DSSC_Tool_Learning/ITB/Report/ITB本地部署指南.md</a:t>
            </a:r>
          </a:p>
          <a:p xmlns:a="http://schemas.openxmlformats.org/drawingml/2006/main">
            <a:r>
              <a:t>- D:/FromC/Working Materials/TIDE_DSSC/DSSC_Tool_Learning/ITB/Report/ITB_Validator源码解析.md</a:t>
            </a:r>
          </a:p>
          <a:p xmlns:a="http://schemas.openxmlformats.org/drawingml/2006/main">
            <a:r>
              <a:t>- https://www.itb.ec.europa.eu/docs/guides/latest/validatingRDF/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 Suite 入口文件声明 Actor 与三个 Test Case。TC03 XML 存在但 disabled=true，所以不参与当前符合性判定。Resources 保存测试规则；Samples 不属于执行逻辑。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D:/FromC/Working Materials/TIDE_DSSC/DSSC_Tool_Learning/ITB/testsuite/testSuite.xml</a:t>
            </a:r>
          </a:p>
          <a:p xmlns:a="http://schemas.openxmlformats.org/drawingml/2006/main">
            <a:r>
              <a:t>- D:/FromC/Working Materials/TIDE_DSSC/DSSC_Tool_Learning/ITB/Report/D_itb_test_suite_design.md</a:t>
            </a:r>
          </a:p>
          <a:p xmlns:a="http://schemas.openxmlformats.org/drawingml/2006/main">
            <a:r>
              <a:t>- D:/FromC/Working Materials/TIDE_DSSC/DSSC_Tool_Learning/ITB/testsuite/README.md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本页按照 ttl_design.md 的设计顺序讲解。首先，用户提交的是 JSON-LD；@context 将表面上的 JSON 字段映射为 RDF vocabulary，Validator 实际验证的是解析后的 RDF graph。其次，规则设计不是只针对一份 invalid sample，而是从真实输入风险出发，包括缺字段、多值、错误枚举、空白值、时间倒序、HTTP endpoint、Dataset 数量异常和额外字段。然后把这些风险分别转成 minCount、maxCount、datatype、nodeKind、sh:in、sh:pattern、SHACL-SPARQL 和 Closed Shape。与原 TTL 相比，最终版新增了空字符串和纯空白检查、完整的单值约束、用 sh:in 防止枚举数组绕过、frequency 和 License 检查、HTTPS 强制、日期先后逻辑、Dataset 数量和身份检查，以及 Closed Shape 的额外字段控制。需要特别说明：License 在这份 TTL 中可选，但如果提供必须唯一、为 IRI 且使用 HTTPS；TC02 还会独立要求许可证存在并检查白名单。TTL 的验证边界没有改变：它只判断 metadata conformance，不能判断 API 是否在线、HTTP 状态或返回数据内容，这些运行时检查应由 ITB 的 HTTP / Messaging Test Step 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D:/FromC/Working Materials/TIDE_DSSC/DSSC_Tool_Learning/ITB/Report/ttl_design.md</a:t>
            </a:r>
          </a:p>
          <a:p xmlns:a="http://schemas.openxmlformats.org/drawingml/2006/main">
            <a:r>
              <a:t>- D:/FromC/Working Materials/TIDE_DSSC/DSSC_Tool_Learning/ITB/validator-config/energy/shapes/building-energy-shapes_D.ttl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TC01 使用独立 SHACL Validator。ITB 通过 GITB SOAP 接口发送 JSON-LD，Validator 加载 energy/v1 下的 D 组 TTL 规则并返回 GITB validation report。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D:/FromC/Working Materials/TIDE_DSSC/DSSC_Tool_Learning/ITB/testsuite/testCases/TC01_METADATA_FIELD_VALIDATION.xml</a:t>
            </a:r>
          </a:p>
          <a:p xmlns:a="http://schemas.openxmlformats.org/drawingml/2006/main">
            <a:r>
              <a:t>- D:/FromC/Working Materials/TIDE_DSSC/DSSC_Tool_Learning/ITB/validator-config/energy/shapes/building-energy-shapes_D.ttl</a:t>
            </a:r>
          </a:p>
          <a:p xmlns:a="http://schemas.openxmlformats.org/drawingml/2006/main">
            <a:r>
              <a:t>- D:/FromC/Working Materials/TIDE_DSSC/DSSC_Tool_Learning/ITB/Report/D_validation_error_analysis.md</a:t>
            </a:r>
          </a:p>
          <a:p xmlns:a="http://schemas.openxmlformats.org/drawingml/2006/main">
            <a:r>
              <a:t>- D:/FromC/Working Materials/TIDE_DSSC/DSSC_Tool_Learning/ITB/Report/flowcharts/D_ttl.png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TC02 展示了 ITB 不依赖独立 Validator 也可以实现业务政策测试。它从 JSON-LD 的 RDF 语义中提取 license，再用内置 Handler 与 whitelist 做精确匹配。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D:/FromC/Working Materials/TIDE_DSSC/DSSC_Tool_Learning/ITB/testsuite/testCases/TC02_LICENSE_POLICY_VALIDATION.xml</a:t>
            </a:r>
          </a:p>
          <a:p xmlns:a="http://schemas.openxmlformats.org/drawingml/2006/main">
            <a:r>
              <a:t>- D:/FromC/Working Materials/TIDE_DSSC/DSSC_Tool_Learning/ITB/testsuite/Resources/license-whitelist.json</a:t>
            </a:r>
          </a:p>
          <a:p xmlns:a="http://schemas.openxmlformats.org/drawingml/2006/main">
            <a:r>
              <a:t>- D:/FromC/Working Materials/TIDE_DSSC/DSSC_Tool_Learning/ITB/Report/D_itb_test_suite_design.md</a:t>
            </a:r>
          </a:p>
          <a:p xmlns:a="http://schemas.openxmlformats.org/drawingml/2006/main">
            <a:r>
              <a:t>- D:/FromC/Working Materials/TIDE_DSSC/DSSC_Tool_Learning/ITB/Report/flowcharts/TC02.png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TC03 XML 和 Resources 已经存在，但 disabled=true。未来启用后，将使用 RdfUtils、HttpMessagingV2 和 JsonValidator；SHACL TTL 只检查 metadata 中 endpoint 的声明，不负责 API response body。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D:/FromC/Working Materials/TIDE_DSSC/DSSC_Tool_Learning/ITB/testsuite/testCases/TC03_API_RESPONSE_VALIDATION.xml</a:t>
            </a:r>
          </a:p>
          <a:p xmlns:a="http://schemas.openxmlformats.org/drawingml/2006/main">
            <a:r>
              <a:t>- D:/FromC/Working Materials/TIDE_DSSC/DSSC_Tool_Learning/ITB/testsuite/Resources/api-response.schema.json</a:t>
            </a:r>
          </a:p>
          <a:p xmlns:a="http://schemas.openxmlformats.org/drawingml/2006/main">
            <a:r>
              <a:t>- D:/FromC/Working Materials/TIDE_DSSC/DSSC_Tool_Learning/ITB/testsuite/Resources/openapi.yaml</a:t>
            </a:r>
          </a:p>
          <a:p xmlns:a="http://schemas.openxmlformats.org/drawingml/2006/main">
            <a:r>
              <a:t>- D:/FromC/Working Materials/TIDE_DSSC/DSSC_Tool_Learning/ITB/Report/flowcharts/TC03.png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展示四次会话和 invalid TC01 的具体错误。强调结果矩阵来自真实 ITB Test Session；同时主动说明边界，避免把 TC03 或生产部署说成已完成。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D:/FromC/Working Materials/TIDE_DSSC/DSSC_Tool_Learning/ITB/Report/valid_TC01.pdf</a:t>
            </a:r>
          </a:p>
          <a:p xmlns:a="http://schemas.openxmlformats.org/drawingml/2006/main">
            <a:r>
              <a:t>- D:/FromC/Working Materials/TIDE_DSSC/DSSC_Tool_Learning/ITB/Report/valid_TC02.pdf</a:t>
            </a:r>
          </a:p>
          <a:p xmlns:a="http://schemas.openxmlformats.org/drawingml/2006/main">
            <a:r>
              <a:t>- D:/FromC/Working Materials/TIDE_DSSC/DSSC_Tool_Learning/ITB/Report/Invalid_TC01.pdf</a:t>
            </a:r>
          </a:p>
          <a:p xmlns:a="http://schemas.openxmlformats.org/drawingml/2006/main">
            <a:r>
              <a:t>- D:/FromC/Working Materials/TIDE_DSSC/DSSC_Tool_Learning/ITB/Report/Invalid_TC02.pdf</a:t>
            </a:r>
          </a:p>
          <a:p xmlns:a="http://schemas.openxmlformats.org/drawingml/2006/main">
            <a:r>
              <a:t>- D:/FromC/Working Materials/TIDE_DSSC/DSSC_Tool_Learning/ITB/Report/demo/05-itb-four-sessions.png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https://github.com/ttommybot/DSSC_Toolbox_ITB_with_Validator</a:t>
            </a:r>
          </a:p>
          <a:p xmlns:a="http://schemas.openxmlformats.org/drawingml/2006/main">
            <a:r>
              <a:t>- D:/FromC/Working Materials/TIDE_DSSC/DSSC_Tool_Learning/ITB/README.md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d0fb9862f041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bdc2cc72604702" /><Relationship Type="http://schemas.openxmlformats.org/officeDocument/2006/relationships/slideLayout" Target="/ppt/slideLayouts/slideLayout1.xml" Id="R1074287fb14e46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74287fb14e46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42b86684146c9" /><Relationship Type="http://schemas.openxmlformats.org/officeDocument/2006/relationships/image" Target="/ppt/media/image.jpeg" Id="R3f8553e2dfcb4126" /><Relationship Type="http://schemas.openxmlformats.org/officeDocument/2006/relationships/notesSlide" Target="/ppt/notesSlides/notesSlide1.xml" Id="R969bea21e71e42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64f2bea1e4ba0" /><Relationship Type="http://schemas.openxmlformats.org/officeDocument/2006/relationships/notesSlide" Target="/ppt/notesSlides/notesSlide2.xml" Id="R9ebe2730e9cb4d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58dd4b427747cb" /><Relationship Type="http://schemas.openxmlformats.org/officeDocument/2006/relationships/notesSlide" Target="/ppt/notesSlides/notesSlide3.xml" Id="Rd1242989718d4a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fe2c1969f4888" /><Relationship Type="http://schemas.openxmlformats.org/officeDocument/2006/relationships/notesSlide" Target="/ppt/notesSlides/notesSlide4.xml" Id="R3fcbbd0fb1694e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1d338968c44d9" /><Relationship Type="http://schemas.openxmlformats.org/officeDocument/2006/relationships/notesSlide" Target="/ppt/notesSlides/notesSlide5.xml" Id="R3d2bb27398ac4e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9ab01bd5eb4e9d" /><Relationship Type="http://schemas.openxmlformats.org/officeDocument/2006/relationships/notesSlide" Target="/ppt/notesSlides/notesSlide6.xml" Id="Rdc38b118706441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ea4a6af3547b7" /><Relationship Type="http://schemas.openxmlformats.org/officeDocument/2006/relationships/notesSlide" Target="/ppt/notesSlides/notesSlide7.xml" Id="R0c87bbae19aa4f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d543021adc4111" /><Relationship Type="http://schemas.openxmlformats.org/officeDocument/2006/relationships/notesSlide" Target="/ppt/notesSlides/notesSlide8.xml" Id="R6401887cb3a645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d31cf4fde4ab8" /><Relationship Type="http://schemas.openxmlformats.org/officeDocument/2006/relationships/image" Target="/ppt/media/image.png" Id="Ra1b4b2894d844edd" /><Relationship Type="http://schemas.openxmlformats.org/officeDocument/2006/relationships/image" Target="/ppt/media/image2.png" Id="Rda203704338e4366" /><Relationship Type="http://schemas.openxmlformats.org/officeDocument/2006/relationships/notesSlide" Target="/ppt/notesSlides/notesSlide9.xml" Id="R46f856b47dd844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17e30effd4873" /><Relationship Type="http://schemas.openxmlformats.org/officeDocument/2006/relationships/image" Target="/ppt/media/image3.png" Id="R7bc052714c53485f" /><Relationship Type="http://schemas.openxmlformats.org/officeDocument/2006/relationships/notesSlide" Target="/ppt/notesSlides/notesSlide10.xml" Id="Re348dfea32f940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fa399d8c247fc" /><Relationship Type="http://schemas.openxmlformats.org/officeDocument/2006/relationships/image" Target="/ppt/media/image4.png" Id="R6d5552156110479d" /><Relationship Type="http://schemas.openxmlformats.org/officeDocument/2006/relationships/image" Target="/ppt/media/image5.png" Id="Rabbf0e81d8dd46cf" /><Relationship Type="http://schemas.openxmlformats.org/officeDocument/2006/relationships/notesSlide" Target="/ppt/notesSlides/notesSlide11.xml" Id="R5173868b10cd4f4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c2a3a7a7243ec" /><Relationship Type="http://schemas.openxmlformats.org/officeDocument/2006/relationships/image" Target="/ppt/media/image.jpeg" Id="R8fda3418f9da4ee7" /><Relationship Type="http://schemas.openxmlformats.org/officeDocument/2006/relationships/image" Target="/ppt/media/image6.png" Id="R130fc16b6d1448de" /><Relationship Type="http://schemas.openxmlformats.org/officeDocument/2006/relationships/notesSlide" Target="/ppt/notesSlides/notesSlide12.xml" Id="Raf07baf0eb1b407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b722168ab4021" /><Relationship Type="http://schemas.openxmlformats.org/officeDocument/2006/relationships/notesSlide" Target="/ppt/notesSlides/notesSlide13.xml" Id="Rffa7cce34c5d48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CAA0836-8C19-4533-8AFE-101D52F2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7D6917F-DCB5-44EF-8C2F-79A9A0A6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DSSC TOOLBOX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FCC1F0E-233E-49D4-B54A-1BD2427E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52863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Interoperability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Test Bed（ITB）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7F64D71-E388-4B4F-902D-3FDD3644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可信数据空间中的符合性测试与验证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03E2D1B-9285-46BE-8BC7-7EE00477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D组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6E2F542-D861-4592-B327-BEF92D10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雎欣宸　张家辉　林筱婷　吕鑫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C7F573B-2B04-41EA-AE15-D10BF087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Building Energy Consumption Data Product · Test Suite 3.2.0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4914A387-C905-4465-BB06-70267404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76250"/>
            <a:ext cx="5438775" cy="5619750"/>
          </a:xfrm>
          <a:prstGeom xmlns:a="http://schemas.openxmlformats.org/drawingml/2006/main" prst="roundRect">
            <a:avLst>
              <a:gd name="adj" fmla="val 31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8553e2dfcb4126"/>
          <a:stretch xmlns:a="http://schemas.openxmlformats.org/drawingml/2006/main"/>
        </p:blipFill>
        <p:spPr>
          <a:xfrm xmlns:a="http://schemas.openxmlformats.org/drawingml/2006/main">
            <a:off x="6616055" y="800100"/>
            <a:ext cx="4608214" cy="3238500"/>
          </a:xfrm>
          <a:prstGeom xmlns:a="http://schemas.openxmlformats.org/drawingml/2006/main" prst="roundRect">
            <a:avLst>
              <a:gd name="adj" fmla="val 3529"/>
            </a:avLst>
          </a:prstGeom>
        </p:spPr>
      </p:pic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AB3C31E2-129E-46C6-9504-9BF5921C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29150"/>
            <a:ext cx="12573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3335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85DE81A-8ED9-494B-AF0C-9A43A5D6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76775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JSON-LD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7419352B-8799-49B3-A6C4-38AED1EC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29150"/>
            <a:ext cx="12573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617CF8C-0512-4441-8B08-055AD681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76775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ITB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1DCEEDC8-B9FD-4708-A0B1-02A36EA3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629150"/>
            <a:ext cx="13525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3335">
            <a:solidFill>
              <a:srgbClr val="6474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64B727B-E991-479C-B2EF-10F6D6C7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676775"/>
            <a:ext cx="116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REPORT</a:t>
            </a:r>
          </a:p>
        </p:txBody>
      </p:sp>
      <p:cxnSp>
        <p:nvCxnSpPr>
          <p:cNvPr id="88" name="直接箭头连接符 33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924800" y="49053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tailEnd type="triangle" w="sm" len="sm"/>
          </a:ln>
        </p:spPr>
      </p:cxnSp>
      <p:cxnSp>
        <p:nvCxnSpPr>
          <p:cNvPr id="89" name="直接箭头连接符 34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486900" y="49053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tailEnd type="triangle" w="sm" len="sm"/>
          </a:ln>
        </p:spPr>
      </p:cxn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7E35FF8-E099-4754-B8AA-F06E21B5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911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从规则到可审计证据</a:t>
            </a:r>
          </a:p>
        </p:txBody>
      </p:sp>
    </p:spTree>
    <p:extLst>
      <p:ext uri="{BB962C8B-B14F-4D97-AF65-F5344CB8AC3E}">
        <p14:creationId xmlns:p14="http://schemas.microsoft.com/office/powerpoint/2010/main" val="7884625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E0D9AA2-367E-4550-B7F5-4E7B5B2B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ITB 把共同规则转化为可重复、可审计的测试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7CD6150-3B5E-405C-A312-A9072B0E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定位：可信数据空间的 Conformance / Validation 层，而不是数据交换工具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EA1CFC7A-B1B1-47EE-87E7-A90B7394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1087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D79AC69B-59AD-4B79-BA84-04EFD11A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3362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012924E-70CF-45EA-9B0B-A937780B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2143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Semantic Model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共同语义与规则</a:t>
            </a:r>
          </a:p>
        </p:txBody>
      </p:sp>
      <p:sp>
        <p:nvSpPr>
          <p:cNvPr id="6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2A9F3747-A3B2-49AD-8861-C12E369D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190750"/>
            <a:ext cx="233362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70B9632-C58D-450F-984B-92DF6434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238375"/>
            <a:ext cx="2143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ITB / Validator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执行符合性测试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0D56EBBA-E27C-47C1-BD8A-82DACE3F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233362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35E9BCC-90AA-4175-B501-EC6D3948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38375"/>
            <a:ext cx="2143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Onboarding Decision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通过 / 拒绝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44692990-92E3-4728-A964-7B251E81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190750"/>
            <a:ext cx="233362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13335">
            <a:solidFill>
              <a:srgbClr val="6474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9D9880C-4F83-4AC0-9400-DFD7DEAF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238375"/>
            <a:ext cx="2143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Connector / Exchange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后续数据交换</a:t>
            </a:r>
          </a:p>
        </p:txBody>
      </p:sp>
      <p:cxnSp>
        <p:nvCxnSpPr>
          <p:cNvPr id="74" name="直接箭头连接符 31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019425" y="268605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tailEnd type="triangle" w="sm" len="sm"/>
          </a:ln>
        </p:spPr>
      </p:cxnSp>
      <p:cxnSp>
        <p:nvCxnSpPr>
          <p:cNvPr id="75" name="直接箭头连接符 32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867400" y="268605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tailEnd type="triangle" w="sm" len="sm"/>
          </a:ln>
        </p:spPr>
      </p:cxnSp>
      <p:cxnSp>
        <p:nvCxnSpPr>
          <p:cNvPr id="76" name="直接箭头连接符 33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15375" y="268605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tailEnd type="triangle" w="sm" len="sm"/>
          </a:ln>
        </p:spPr>
      </p:cxn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8E5C6B1-396A-44D9-A241-68F1E4C2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0062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ITB 的四个作用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5EB5EF9D-A006-4316-8020-C436BA15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7262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管理标准与被测对象　·　编排 Test Case　·　调用 Validator/Handler　·　保存 Test Session 与报告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A0D53DBD-2CF7-406A-9F29-1C5ABB01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DSSC TOOLBOX · INTEROPERABILITY TEST BED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82E19F9-78A7-4D20-A202-F5EE8C0C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293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426767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DC92F1-164D-4AD7-9DD6-DA39BC85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ITB 用三组对象把治理规则、被测系统和测试执行连接起来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667CBBA-0F65-481B-8AB7-4B90B92C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抽象概念必须映射到具体 Domain、System 与 Test Session 才能运行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4E372BE1-ED16-46AF-9FFC-08952DD8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1087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1B99471-019F-40BF-BE60-951E2681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治理与标准层</a:t>
            </a:r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730FA3BD-B889-46F8-B4B8-F19BE6A3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952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1F960F4-DD06-4AE5-8FE8-7C3E2B63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8122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Domain</a:t>
            </a:r>
          </a:p>
        </p:txBody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9F08D993-61AB-40E7-B823-4E93F467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952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68F3D6D-7799-4BEF-BCA3-ACA09466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Specification</a:t>
            </a:r>
          </a:p>
        </p:txBody>
      </p:sp>
      <p:cxnSp>
        <p:nvCxnSpPr>
          <p:cNvPr id="153" name="直接箭头连接符 47"/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162175" y="268605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59669"/>
            </a:solidFill>
            <a:prstDash val="solid"/>
            <a:tailEnd type="triangle" w="sm" len="sm"/>
          </a:ln>
        </p:spPr>
      </p:cxn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8AED6C40-1256-4609-8A2D-9DD24465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2952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B575FEA-AC28-4B31-9BF0-D4B6A7E9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8142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Actor</a:t>
            </a:r>
          </a:p>
        </p:txBody>
      </p:sp>
      <p:cxnSp>
        <p:nvCxnSpPr>
          <p:cNvPr id="156" name="直接箭头连接符 50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2162175" y="348615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59669"/>
            </a:solidFill>
            <a:prstDash val="solid"/>
            <a:tailEnd type="triangle" w="sm" len="sm"/>
          </a:ln>
        </p:spPr>
      </p:cxn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0FCDC47-E922-4054-96E7-11F584FD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5811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被测对象层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1A95E1D9-947B-4913-8BE9-720A2558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133600"/>
            <a:ext cx="2952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3335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64CB308-8208-4DA5-8543-BADA8D8C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18122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Organisation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206B465A-BDAE-4C38-8725-0C99BA0D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933700"/>
            <a:ext cx="2952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3335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ED40FBB-8DBB-484B-A4B2-D9F4B269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8132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System</a:t>
            </a:r>
          </a:p>
        </p:txBody>
      </p:sp>
      <p:cxnSp>
        <p:nvCxnSpPr>
          <p:cNvPr id="162" name="直接箭头连接符 56"/>
          <p:cNvCxnSpPr>
            <a:stCxn xmlns:a="http://schemas.openxmlformats.org/drawingml/2006/main" id="14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5619750" y="268605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C3AED"/>
            </a:solidFill>
            <a:prstDash val="solid"/>
            <a:tailEnd type="triangle" w="sm" len="sm"/>
          </a:ln>
        </p:spPr>
      </p:cxnSp>
      <p:sp>
        <p:nvSpPr>
          <p:cNvPr id="19" name="矩形: 圆角 18">
            <a:extLst xmlns:a="http://schemas.openxmlformats.org/drawingml/2006/main">
              <a:ext uri="{FF2B5EF4-FFF2-40B4-BE49-F238E27FC236}">
                <a16:creationId xmlns:a16="http://schemas.microsoft.com/office/drawing/2014/main" id="{DAD458CC-A200-44E1-84AF-EDA3757B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733800"/>
            <a:ext cx="2952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3335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B4E2BBE-FA13-4B3A-BC08-C22ACF1E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8142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Conformance Statement</a:t>
            </a:r>
          </a:p>
        </p:txBody>
      </p:sp>
      <p:cxnSp>
        <p:nvCxnSpPr>
          <p:cNvPr id="165" name="直接箭头连接符 59"/>
          <p:cNvCxnSpPr>
            <a:stCxn xmlns:a="http://schemas.openxmlformats.org/drawingml/2006/main" id="16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5619750" y="348615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C3AED"/>
            </a:solidFill>
            <a:prstDash val="solid"/>
            <a:tailEnd type="triangle" w="sm" len="sm"/>
          </a:ln>
        </p:spPr>
      </p:cxn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903C7F94-1D57-44AA-914E-BAA6BD87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811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测试执行层</a:t>
            </a:r>
          </a:p>
        </p:txBody>
      </p:sp>
      <p:sp>
        <p:nvSpPr>
          <p:cNvPr id="23" name="矩形: 圆角 22">
            <a:extLst xmlns:a="http://schemas.openxmlformats.org/drawingml/2006/main">
              <a:ext uri="{FF2B5EF4-FFF2-40B4-BE49-F238E27FC236}">
                <a16:creationId xmlns:a16="http://schemas.microsoft.com/office/drawing/2014/main" id="{23723E1B-470E-40FE-A304-2703BF99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33600"/>
            <a:ext cx="3905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5558DB60-41BF-465D-9D25-B2A8B75B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8122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Test Suite</a:t>
            </a:r>
          </a:p>
        </p:txBody>
      </p:sp>
      <p:sp>
        <p:nvSpPr>
          <p:cNvPr id="25" name="矩形: 圆角 24">
            <a:extLst xmlns:a="http://schemas.openxmlformats.org/drawingml/2006/main">
              <a:ext uri="{FF2B5EF4-FFF2-40B4-BE49-F238E27FC236}">
                <a16:creationId xmlns:a16="http://schemas.microsoft.com/office/drawing/2014/main" id="{D0D4B0B8-C80B-4E25-85C3-61530794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33700"/>
            <a:ext cx="3905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4111686D-1BCA-4D6A-89FB-3AA50ED5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8132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Test Case</a:t>
            </a:r>
          </a:p>
        </p:txBody>
      </p:sp>
      <p:cxnSp>
        <p:nvCxnSpPr>
          <p:cNvPr id="171" name="直接箭头连接符 65"/>
          <p:cNvCxnSpPr>
            <a:stCxn xmlns:a="http://schemas.openxmlformats.org/drawingml/2006/main" id="23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9553575" y="268605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tailEnd type="triangle" w="sm" len="sm"/>
          </a:ln>
        </p:spPr>
      </p:cxn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597685B3-44CC-4028-99B3-55CB5F2F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33800"/>
            <a:ext cx="3905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228E74E1-002A-4296-8F10-E9858D14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78142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Test Session</a:t>
            </a:r>
          </a:p>
        </p:txBody>
      </p:sp>
      <p:cxnSp>
        <p:nvCxnSpPr>
          <p:cNvPr id="174" name="直接箭头连接符 68"/>
          <p:cNvCxnSpPr>
            <a:stCxn xmlns:a="http://schemas.openxmlformats.org/drawingml/2006/main" id="25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9553575" y="348615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tailEnd type="triangle" w="sm" len="sm"/>
          </a:ln>
        </p:spPr>
      </p:cxnSp>
      <p:sp>
        <p:nvSpPr>
          <p:cNvPr id="31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5A73FB0C-04EB-40D7-8495-B76C82D5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33900"/>
            <a:ext cx="3905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7CC271F5-EBB7-417B-AEB4-7F6F976B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58152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Validation Report</a:t>
            </a:r>
          </a:p>
        </p:txBody>
      </p:sp>
      <p:cxnSp>
        <p:nvCxnSpPr>
          <p:cNvPr id="177" name="直接箭头连接符 71"/>
          <p:cNvCxnSpPr>
            <a:stCxn xmlns:a="http://schemas.openxmlformats.org/drawingml/2006/main" id="28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9553575" y="428625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tailEnd type="triangle" w="sm" len="sm"/>
          </a:ln>
        </p:spPr>
      </p:cxnSp>
      <p:cxnSp>
        <p:nvCxnSpPr>
          <p:cNvPr id="178" name="直接箭头连接符 72"/>
          <p:cNvCxnSpPr>
            <a:stCxn xmlns:a="http://schemas.openxmlformats.org/drawingml/2006/main" id="10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3638550" y="4010025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dash"/>
            <a:tailEnd type="triangle" w="sm" len="sm"/>
          </a:ln>
        </p:spPr>
      </p:cxnSp>
      <p:cxnSp>
        <p:nvCxnSpPr>
          <p:cNvPr id="179" name="直接箭头连接符 73"/>
          <p:cNvCxnSpPr>
            <a:stCxn xmlns:a="http://schemas.openxmlformats.org/drawingml/2006/main" id="19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7096125" y="4010025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dash"/>
            <a:tailEnd type="triangle" w="sm" len="sm"/>
          </a:ln>
        </p:spPr>
      </p:cxnSp>
      <p:sp>
        <p:nvSpPr>
          <p:cNvPr id="36" name="矩形: 圆角 35">
            <a:extLst xmlns:a="http://schemas.openxmlformats.org/drawingml/2006/main">
              <a:ext uri="{FF2B5EF4-FFF2-40B4-BE49-F238E27FC236}">
                <a16:creationId xmlns:a16="http://schemas.microsoft.com/office/drawing/2014/main" id="{9AAF8D7B-C1AD-476D-9CBC-79159EF2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00E0669D-24FB-447F-8001-92F91446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34050"/>
            <a:ext cx="1040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Actor 是抽象角色；System 是真实被测对象；Conformance Statement 是两者与 Specification 的符合性声明。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3FBD895E-E6B1-46BE-B2EA-F8ED01F8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DSSC TOOLBOX · INTEROPERABILITY TEST BED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7EA70E16-BF92-421D-A613-7A2E7772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293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818557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75F370-EBF3-4AFD-BA50-C2D07956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一次符合性测试由“平台配置一次”和“参与方重复执行”组成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99AF34B-959D-41AD-9518-33B9F9E4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用户注册不是核心；真正的验证从 Conformance Statement 和 Test Session 开始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962EAAA2-E519-415D-A377-B610841F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1087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E867E26-0687-426B-94CC-6763BE01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AUTHORITY / 管理者 · 配置一次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DA39A69-08B3-4E44-A05F-A6B0A357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PROVIDER / 测试人员 · 每次执行</a:t>
            </a:r>
          </a:p>
        </p:txBody>
      </p:sp>
      <p:sp>
        <p:nvSpPr>
          <p:cNvPr id="6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EC95ED05-3A15-4187-8C26-7901262B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21336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B9A0D94-0AB5-470F-9ADF-6EA239E3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194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创建 Domain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E97E17E1-14B8-4222-95F6-C8F15457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57400"/>
            <a:ext cx="21336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F7A2479-33C0-4167-90C1-BCED8390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05025"/>
            <a:ext cx="194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定义 Specification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8CAC148A-FC48-4403-9EA8-EB0A214D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57400"/>
            <a:ext cx="21336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E684DD7-1AE5-4C6E-B8EA-F046C512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05025"/>
            <a:ext cx="194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定义 Actor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188D70C3-A774-4E58-B6E9-EB8D4AB5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57400"/>
            <a:ext cx="21336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1EA4545-1F86-4320-9E10-FB76328B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05025"/>
            <a:ext cx="194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上传 Test Suite</a:t>
            </a:r>
          </a:p>
        </p:txBody>
      </p:sp>
      <p:cxnSp>
        <p:nvCxnSpPr>
          <p:cNvPr id="154" name="直接箭头连接符 51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819400" y="237172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59669"/>
            </a:solidFill>
            <a:prstDash val="solid"/>
            <a:tailEnd type="triangle" w="sm" len="sm"/>
          </a:ln>
        </p:spPr>
      </p:cxnSp>
      <p:cxnSp>
        <p:nvCxnSpPr>
          <p:cNvPr id="155" name="直接箭头连接符 52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505450" y="237172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59669"/>
            </a:solidFill>
            <a:prstDash val="solid"/>
            <a:tailEnd type="triangle" w="sm" len="sm"/>
          </a:ln>
        </p:spPr>
      </p:cxnSp>
      <p:cxnSp>
        <p:nvCxnSpPr>
          <p:cNvPr id="156" name="直接箭头连接符 53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191500" y="237172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59669"/>
            </a:solidFill>
            <a:prstDash val="solid"/>
            <a:tailEnd type="triangle" w="sm" len="sm"/>
          </a:ln>
        </p:spPr>
      </p:cxn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252D6249-8CAA-43A4-A6E0-D786FF35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428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3335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31197D4E-6EE4-46AC-86D1-4176D4F9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38625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建立 System</a:t>
            </a:r>
          </a:p>
        </p:txBody>
      </p:sp>
      <p:sp>
        <p:nvSpPr>
          <p:cNvPr id="19" name="矩形: 圆角 18">
            <a:extLst xmlns:a="http://schemas.openxmlformats.org/drawingml/2006/main">
              <a:ext uri="{FF2B5EF4-FFF2-40B4-BE49-F238E27FC236}">
                <a16:creationId xmlns:a16="http://schemas.microsoft.com/office/drawing/2014/main" id="{28B4870E-C38C-48AA-B8AC-BB52353C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91000"/>
            <a:ext cx="1428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3335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D9C0A0A7-0BB7-4770-BAC6-B4199283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38625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创建 Statement</a:t>
            </a:r>
          </a:p>
        </p:txBody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23430381-93FC-4400-888C-C43EA7B3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91000"/>
            <a:ext cx="1428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5F83812-DB98-4DB1-888C-CC868B89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38625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选择 Test Case</a:t>
            </a:r>
          </a:p>
        </p:txBody>
      </p:sp>
      <p:sp>
        <p:nvSpPr>
          <p:cNvPr id="23" name="矩形: 圆角 22">
            <a:extLst xmlns:a="http://schemas.openxmlformats.org/drawingml/2006/main">
              <a:ext uri="{FF2B5EF4-FFF2-40B4-BE49-F238E27FC236}">
                <a16:creationId xmlns:a16="http://schemas.microsoft.com/office/drawing/2014/main" id="{DAA70DED-C58C-4D40-B0E5-A816A108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91000"/>
            <a:ext cx="1428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FC871C7-E2A3-4734-B07B-69B9679A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38625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上传输入</a:t>
            </a:r>
          </a:p>
        </p:txBody>
      </p:sp>
      <p:sp>
        <p:nvSpPr>
          <p:cNvPr id="25" name="矩形: 圆角 24">
            <a:extLst xmlns:a="http://schemas.openxmlformats.org/drawingml/2006/main">
              <a:ext uri="{FF2B5EF4-FFF2-40B4-BE49-F238E27FC236}">
                <a16:creationId xmlns:a16="http://schemas.microsoft.com/office/drawing/2014/main" id="{F5A82DBD-88EF-4882-A860-BEDDFBE3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91000"/>
            <a:ext cx="1428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B4F482CD-EB59-4ED3-9C1A-487C230C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38625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生成 Session</a:t>
            </a:r>
          </a:p>
        </p:txBody>
      </p:sp>
      <p:sp>
        <p:nvSpPr>
          <p:cNvPr id="27" name="矩形: 圆角 26">
            <a:extLst xmlns:a="http://schemas.openxmlformats.org/drawingml/2006/main">
              <a:ext uri="{FF2B5EF4-FFF2-40B4-BE49-F238E27FC236}">
                <a16:creationId xmlns:a16="http://schemas.microsoft.com/office/drawing/2014/main" id="{10181912-100F-4B9F-B61D-39F31943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91000"/>
            <a:ext cx="1428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EF38180F-E25A-4D8D-B940-598B45FA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238625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查看 Report</a:t>
            </a:r>
          </a:p>
        </p:txBody>
      </p:sp>
      <p:cxnSp>
        <p:nvCxnSpPr>
          <p:cNvPr id="169" name="直接箭头连接符 66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2114550" y="45053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C3AED"/>
            </a:solidFill>
            <a:prstDash val="solid"/>
            <a:tailEnd type="triangle" w="sm" len="sm"/>
          </a:ln>
        </p:spPr>
      </p:cxnSp>
      <p:cxnSp>
        <p:nvCxnSpPr>
          <p:cNvPr id="170" name="直接箭头连接符 67"/>
          <p:cNvCxnSpPr>
            <a:stCxn xmlns:a="http://schemas.openxmlformats.org/drawingml/2006/main" id="19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3905250" y="45053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tailEnd type="triangle" w="sm" len="sm"/>
          </a:ln>
        </p:spPr>
      </p:cxnSp>
      <p:cxnSp>
        <p:nvCxnSpPr>
          <p:cNvPr id="171" name="直接箭头连接符 68"/>
          <p:cNvCxnSpPr>
            <a:stCxn xmlns:a="http://schemas.openxmlformats.org/drawingml/2006/main" id="21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5695950" y="45053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tailEnd type="triangle" w="sm" len="sm"/>
          </a:ln>
        </p:spPr>
      </p:cxnSp>
      <p:cxnSp>
        <p:nvCxnSpPr>
          <p:cNvPr id="172" name="直接箭头连接符 69"/>
          <p:cNvCxnSpPr>
            <a:stCxn xmlns:a="http://schemas.openxmlformats.org/drawingml/2006/main" id="23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7486650" y="45053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tailEnd type="triangle" w="sm" len="sm"/>
          </a:ln>
        </p:spPr>
      </p:cxnSp>
      <p:cxnSp>
        <p:nvCxnSpPr>
          <p:cNvPr id="173" name="直接箭头连接符 70"/>
          <p:cNvCxnSpPr>
            <a:stCxn xmlns:a="http://schemas.openxmlformats.org/drawingml/2006/main" id="25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277350" y="45053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tailEnd type="triangle" w="sm" len="sm"/>
          </a:ln>
        </p:spPr>
      </p:cxnSp>
      <p:cxnSp>
        <p:nvCxnSpPr>
          <p:cNvPr id="174" name="直接箭头连接符 71"/>
          <p:cNvCxnSpPr>
            <a:stCxn xmlns:a="http://schemas.openxmlformats.org/drawingml/2006/main" id="12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 flipH="1">
            <a:off x="4981575" y="2686050"/>
            <a:ext cx="4829175" cy="1504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dash"/>
            <a:tailEnd type="triangle" w="sm" len="sm"/>
          </a:ln>
        </p:spPr>
      </p:cxnSp>
      <p:sp>
        <p:nvSpPr>
          <p:cNvPr id="35" name="矩形: 圆角 34">
            <a:extLst xmlns:a="http://schemas.openxmlformats.org/drawingml/2006/main">
              <a:ext uri="{FF2B5EF4-FFF2-40B4-BE49-F238E27FC236}">
                <a16:creationId xmlns:a16="http://schemas.microsoft.com/office/drawing/2014/main" id="{DB1039C2-3CD6-49BA-B67D-4E8493B8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5FC34B33-E794-4A37-BAFD-C7C3CD74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0200"/>
            <a:ext cx="1032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ITB 加载 TDL → 执行步骤 → 调用 Validator/Handler → 汇总结果 → 保存可追溯证据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9C28B5F5-076A-4A34-8F7A-AD65FF59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DSSC TOOLBOX · INTEROPERABILITY TEST BED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0E7023F2-3FC2-4D9E-9C3E-4931CBF3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293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501707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AD1174-E202-4E71-A1C1-0C368581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Building Energy 场景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92BC54B-D02F-4505-9F07-B9CF7BA0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实际报告中的名称与 Test Suite 3.2.0 保持一致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4FBEF0-3875-424A-9585-29E5A7C5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1087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E9F934E-2663-42C9-8A7C-01D737E5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Domain</a:t>
            </a:r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DB2F1649-EFB5-4648-A7E1-F4EE411C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49720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E7DD96D-42F6-4DF8-AFF1-A684FB40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628775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DSSC Energy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26DC503-0FB5-42E6-A434-E45B5E9E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Specification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A39A7719-F2B2-445F-ADC9-984C06CC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266950"/>
            <a:ext cx="49720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219C699-7A62-41DD-AE92-C688B440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314575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Building Energy Metadata Profile v1.1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4D88207-F151-4F2C-941C-33F20B5D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Actor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472BB131-F0AF-436E-9602-A350F679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52750"/>
            <a:ext cx="49720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3335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BEE47D7-5769-4236-9DF3-81D17678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000375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Energy Data Provider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AB21A8C-EB0B-4D5A-AC3E-FC238817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System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598232A-7E53-41F8-8589-156D149E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38550"/>
            <a:ext cx="49720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3335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8E15856-4808-4E30-A6D3-96337ED0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686175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Energy Provider v1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80F672C3-F8B3-4DD3-BBCD-015D8A25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Test Suite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213D15DD-D1A7-45D9-9915-F0CE836A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324350"/>
            <a:ext cx="49720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17079CE6-6ED3-47C2-B9B4-96AF9D39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71975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Building Energy Onboarding Suite 3.2.0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F31D122-B35E-4B12-8550-E724AB8C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811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一次实际输入如何流动</a:t>
            </a:r>
          </a:p>
        </p:txBody>
      </p:sp>
      <p:sp>
        <p:nvSpPr>
          <p:cNvPr id="20" name="矩形: 圆角 19">
            <a:extLst xmlns:a="http://schemas.openxmlformats.org/drawingml/2006/main">
              <a:ext uri="{FF2B5EF4-FFF2-40B4-BE49-F238E27FC236}">
                <a16:creationId xmlns:a16="http://schemas.microsoft.com/office/drawing/2014/main" id="{933FEE5F-8A85-4D4D-949B-7B4D6A8A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33600"/>
            <a:ext cx="3333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3335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900AABE-AD0A-4763-91CC-8E79B2B7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812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data-product-*.jsonld</a:t>
            </a:r>
          </a:p>
        </p:txBody>
      </p:sp>
      <p:sp>
        <p:nvSpPr>
          <p:cNvPr id="22" name="矩形: 圆角 21">
            <a:extLst xmlns:a="http://schemas.openxmlformats.org/drawingml/2006/main">
              <a:ext uri="{FF2B5EF4-FFF2-40B4-BE49-F238E27FC236}">
                <a16:creationId xmlns:a16="http://schemas.microsoft.com/office/drawing/2014/main" id="{F1244DF1-8325-42BF-9ADE-376B6811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09900"/>
            <a:ext cx="3333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7202A91-C33B-4DE6-AA6E-C35CCD8A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575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ITB Test Suite 3.2.0</a:t>
            </a:r>
          </a:p>
        </p:txBody>
      </p:sp>
      <p:sp>
        <p:nvSpPr>
          <p:cNvPr id="24" name="矩形: 圆角 23">
            <a:extLst xmlns:a="http://schemas.openxmlformats.org/drawingml/2006/main">
              <a:ext uri="{FF2B5EF4-FFF2-40B4-BE49-F238E27FC236}">
                <a16:creationId xmlns:a16="http://schemas.microsoft.com/office/drawing/2014/main" id="{0C9624A6-A0A6-4A72-AEDA-AA3BC4DA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86200"/>
            <a:ext cx="15811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13335">
            <a:solidFill>
              <a:srgbClr val="F9731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DB6C6199-0FD6-4023-8CE1-C87F1346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33825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TC01 Metadata</a:t>
            </a:r>
          </a:p>
        </p:txBody>
      </p:sp>
      <p:sp>
        <p:nvSpPr>
          <p:cNvPr id="26" name="矩形: 圆角 25">
            <a:extLst xmlns:a="http://schemas.openxmlformats.org/drawingml/2006/main">
              <a:ext uri="{FF2B5EF4-FFF2-40B4-BE49-F238E27FC236}">
                <a16:creationId xmlns:a16="http://schemas.microsoft.com/office/drawing/2014/main" id="{3F1F1C30-CA73-4A7D-ACF3-1AD52B94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886200"/>
            <a:ext cx="15811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A0C932E1-84E2-4FB2-9164-C5CEAB59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933825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TC02 Licence</a:t>
            </a:r>
          </a:p>
        </p:txBody>
      </p: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DD7B232F-3E11-41B7-AE53-A0CC529B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53000"/>
            <a:ext cx="3333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3335">
            <a:solidFill>
              <a:srgbClr val="6474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90F2EACD-628C-489F-BBB8-C069E393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006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ITB PDF Report</a:t>
            </a:r>
          </a:p>
        </p:txBody>
      </p:sp>
      <p:cxnSp>
        <p:nvCxnSpPr>
          <p:cNvPr id="168" name="直接箭头连接符 65"/>
          <p:cNvCxnSpPr>
            <a:stCxn xmlns:a="http://schemas.openxmlformats.org/drawingml/2006/main" id="20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9572625" y="268605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C3AED"/>
            </a:solidFill>
            <a:prstDash val="solid"/>
            <a:tailEnd type="triangle" w="sm" len="sm"/>
          </a:ln>
        </p:spPr>
      </p:cxnSp>
      <p:cxnSp>
        <p:nvCxnSpPr>
          <p:cNvPr id="169" name="直接箭头连接符 66"/>
          <p:cNvCxnSpPr>
            <a:stCxn xmlns:a="http://schemas.openxmlformats.org/drawingml/2006/main" id="22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 flipH="1">
            <a:off x="8696325" y="3562350"/>
            <a:ext cx="87630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tailEnd type="triangle" w="sm" len="sm"/>
          </a:ln>
        </p:spPr>
      </p:cxnSp>
      <p:cxnSp>
        <p:nvCxnSpPr>
          <p:cNvPr id="170" name="直接箭头连接符 67"/>
          <p:cNvCxnSpPr>
            <a:stCxn xmlns:a="http://schemas.openxmlformats.org/drawingml/2006/main" id="22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9572625" y="3562350"/>
            <a:ext cx="87630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tailEnd type="triangle" w="sm" len="sm"/>
          </a:ln>
        </p:spPr>
      </p:cxnSp>
      <p:cxnSp>
        <p:nvCxnSpPr>
          <p:cNvPr id="171" name="直接箭头连接符 68"/>
          <p:cNvCxnSpPr>
            <a:stCxn xmlns:a="http://schemas.openxmlformats.org/drawingml/2006/main" id="24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8696325" y="4438650"/>
            <a:ext cx="87630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172" name="直接箭头连接符 69"/>
          <p:cNvCxnSpPr>
            <a:stCxn xmlns:a="http://schemas.openxmlformats.org/drawingml/2006/main" id="26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 flipH="1">
            <a:off x="9572625" y="4438650"/>
            <a:ext cx="87630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triangle" w="sm" len="sm"/>
          </a:ln>
        </p:spPr>
      </p:cxn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F8EB8E9E-18AB-4ED4-B467-D944079A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DSSC TOOLBOX · INTEROPERABILITY TEST BED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BF34CF2C-EDE8-43ED-BF43-38143D6E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293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237515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4943C1-AEE7-4610-8FB2-57F17366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ITB 可以调用独立 Validator，也可以直接组合内置 Handler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4928CEE-A812-4C99-81E6-6AB78848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本项目：TC01 采用外部 SOAP Validator；TC02 采用 ITB Handler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E2628A5B-A4C9-45BE-B8BE-A0B0AF84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1087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1849DC2-2993-4991-9F24-2079CE8C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方案 A · 独立 SHACL Validator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4E5C106-B466-4122-A966-99E482E7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5240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方案 B · ITB 内置 Handler / Resources</a:t>
            </a:r>
          </a:p>
        </p:txBody>
      </p:sp>
      <p:sp>
        <p:nvSpPr>
          <p:cNvPr id="6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E1903835-232E-42DE-82C9-B01EE7A0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809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1791DF2-0C4D-4E95-994A-948E4C98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0275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ITB Test Case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F8863973-DC16-455D-91E1-F7076D16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52650"/>
            <a:ext cx="1428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13335">
            <a:solidFill>
              <a:srgbClr val="F9731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1F8A1A7-D254-4EED-88AB-8F8CDF0A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00275"/>
            <a:ext cx="123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SOAP API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6F1092E4-D216-4481-AF5D-45DBE267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52650"/>
            <a:ext cx="1809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13335">
            <a:solidFill>
              <a:srgbClr val="F9731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C58B176-5F97-429A-9FE3-2A9218F6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00275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SHACL Validator</a:t>
            </a:r>
          </a:p>
        </p:txBody>
      </p:sp>
      <p:cxnSp>
        <p:nvCxnSpPr>
          <p:cNvPr id="136" name="直接箭头连接符 45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495550" y="24479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97316"/>
            </a:solidFill>
            <a:prstDash val="solid"/>
            <a:tailEnd type="triangle" w="sm" len="sm"/>
          </a:ln>
        </p:spPr>
      </p:cxnSp>
      <p:cxnSp>
        <p:nvCxnSpPr>
          <p:cNvPr id="137" name="直接箭头连接符 46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191000" y="24479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97316"/>
            </a:solidFill>
            <a:prstDash val="solid"/>
            <a:tailEnd type="triangle" w="sm" len="sm"/>
          </a:ln>
        </p:spPr>
      </p:cxn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A003A98E-BF40-4196-84B8-4453E581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14700"/>
            <a:ext cx="20193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E044008-FCA8-4933-9E82-A2A67A11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62325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energy/v1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TTL Rules</a:t>
            </a:r>
          </a:p>
        </p:txBody>
      </p:sp>
      <p:cxnSp>
        <p:nvCxnSpPr>
          <p:cNvPr id="140" name="直接箭头连接符 49"/>
          <p:cNvCxnSpPr>
            <a:stCxn xmlns:a="http://schemas.openxmlformats.org/drawingml/2006/main" id="10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3676650" y="2743200"/>
            <a:ext cx="1685925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59669"/>
            </a:solidFill>
            <a:prstDash val="solid"/>
            <a:tailEnd type="triangle" w="sm" len="sm"/>
          </a:ln>
        </p:spPr>
      </p:cxn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8A3119BB-4F70-4048-AEFF-12EC2F54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67250"/>
            <a:ext cx="3714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3335">
            <a:solidFill>
              <a:srgbClr val="6474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DF200EB-BC5F-4216-8FFE-F26D11FF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14875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GITB Validation Report</a:t>
            </a:r>
          </a:p>
        </p:txBody>
      </p:sp>
      <p:cxnSp>
        <p:nvCxnSpPr>
          <p:cNvPr id="143" name="直接箭头连接符 52"/>
          <p:cNvCxnSpPr>
            <a:stCxn xmlns:a="http://schemas.openxmlformats.org/drawingml/2006/main" id="14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3381375" y="4038600"/>
            <a:ext cx="295275" cy="628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triangle" w="sm" len="sm"/>
          </a:ln>
        </p:spPr>
      </p:cxnSp>
      <p:sp>
        <p:nvSpPr>
          <p:cNvPr id="20" name="矩形: 圆角 19">
            <a:extLst xmlns:a="http://schemas.openxmlformats.org/drawingml/2006/main">
              <a:ext uri="{FF2B5EF4-FFF2-40B4-BE49-F238E27FC236}">
                <a16:creationId xmlns:a16="http://schemas.microsoft.com/office/drawing/2014/main" id="{15F8F63F-4580-476B-BAC4-0D5B9285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52650"/>
            <a:ext cx="1809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E59B33A-51D6-4AC7-8649-B41E0B50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00275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ITB Test Case</a:t>
            </a:r>
          </a:p>
        </p:txBody>
      </p:sp>
      <p:sp>
        <p:nvSpPr>
          <p:cNvPr id="22" name="矩形: 圆角 21">
            <a:extLst xmlns:a="http://schemas.openxmlformats.org/drawingml/2006/main">
              <a:ext uri="{FF2B5EF4-FFF2-40B4-BE49-F238E27FC236}">
                <a16:creationId xmlns:a16="http://schemas.microsoft.com/office/drawing/2014/main" id="{9DB0B2F5-0624-4C0D-AE67-C8F32D61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52650"/>
            <a:ext cx="2095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5FE61999-3826-4913-9778-71F986C7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00275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RDF / Collection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Handler</a:t>
            </a:r>
          </a:p>
        </p:txBody>
      </p:sp>
      <p:cxnSp>
        <p:nvCxnSpPr>
          <p:cNvPr id="148" name="直接箭头连接符 57"/>
          <p:cNvCxnSpPr>
            <a:stCxn xmlns:a="http://schemas.openxmlformats.org/drawingml/2006/main" id="20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343900" y="24479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tailEnd type="triangle" w="sm" len="sm"/>
          </a:ln>
        </p:spPr>
      </p:cxnSp>
      <p:sp>
        <p:nvSpPr>
          <p:cNvPr id="25" name="矩形: 圆角 24">
            <a:extLst xmlns:a="http://schemas.openxmlformats.org/drawingml/2006/main">
              <a:ext uri="{FF2B5EF4-FFF2-40B4-BE49-F238E27FC236}">
                <a16:creationId xmlns:a16="http://schemas.microsoft.com/office/drawing/2014/main" id="{AA1BCC84-8C34-4F74-B82D-36B8012B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14700"/>
            <a:ext cx="2571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E49EBE71-8822-4D4F-B945-7EAFE2FB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62325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license-whitelist.json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JSON Schema / HTTP</a:t>
            </a:r>
          </a:p>
        </p:txBody>
      </p:sp>
      <p:cxnSp>
        <p:nvCxnSpPr>
          <p:cNvPr id="151" name="直接箭头连接符 60"/>
          <p:cNvCxnSpPr>
            <a:stCxn xmlns:a="http://schemas.openxmlformats.org/drawingml/2006/main" id="22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9134475" y="2743200"/>
            <a:ext cx="561975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59669"/>
            </a:solidFill>
            <a:prstDash val="solid"/>
            <a:tailEnd type="triangle" w="sm" len="sm"/>
          </a:ln>
        </p:spPr>
      </p:cxn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6EABCFC1-D74C-4F4D-9555-0D426E84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667250"/>
            <a:ext cx="3714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3335">
            <a:solidFill>
              <a:srgbClr val="6474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8B4C58FC-33BE-4067-9314-CDA69D9A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714875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ITB Native Report</a:t>
            </a:r>
          </a:p>
        </p:txBody>
      </p:sp>
      <p:cxnSp>
        <p:nvCxnSpPr>
          <p:cNvPr id="154" name="直接箭头连接符 63"/>
          <p:cNvCxnSpPr>
            <a:stCxn xmlns:a="http://schemas.openxmlformats.org/drawingml/2006/main" id="25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 flipH="1">
            <a:off x="9039225" y="4038600"/>
            <a:ext cx="9525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triangle" w="sm" len="sm"/>
          </a:ln>
        </p:spPr>
      </p:cxn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3E37132A-C1D6-4FF5-8E7E-6CB24305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054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TC01 · 已实际运行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2D397C47-6F08-47D4-B33D-D148755F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054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TC02 已运行 · TC03 仅设计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999DC6D0-14AE-43B7-861B-ED0B330D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DSSC TOOLBOX · INTEROPERABILITY TEST BED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4F647202-36EA-4DFA-8967-AAEBAF77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293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073055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7B88D6-F00B-400F-A540-04324FA1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Test Suite 3.2.0 把三类准入问题拆成独立 Test Case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19A73F8-3846-44EB-BB03-A934A4B6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规则、白名单和 API 合同作为 Resources；Samples 只用于演示和回归测试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FCF3A427-ACF2-4207-900E-BE0E7C1A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1087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A4C4F811-B34C-46A6-9022-9D6112E2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81150"/>
            <a:ext cx="35433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BD5614B-602E-45ED-952E-8222CD08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28775"/>
            <a:ext cx="335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Building Energy Onboarding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Test Suite 3.2.0</a:t>
            </a:r>
          </a:p>
        </p:txBody>
      </p:sp>
      <p:sp>
        <p:nvSpPr>
          <p:cNvPr id="6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F15675F1-3E2A-48BA-8D48-89C8108A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85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13335">
            <a:solidFill>
              <a:srgbClr val="F9731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B20A58D-8D19-4F2C-8488-A7A9D33F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TC01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Metadata Field Validation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AE313E4-CEE4-4AB6-B8E5-22C36456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85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C836015-AD52-43A8-88C5-616C45BD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90875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TC02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Licence Policy Validation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8EFC2278-2957-48B4-83EA-ABC0BE20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43250"/>
            <a:ext cx="285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13335">
            <a:solidFill>
              <a:srgbClr val="6474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3F09D0B-F2F2-43DC-9C95-B09BF192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90875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TC03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API Response Validation</a:t>
            </a:r>
          </a:p>
        </p:txBody>
      </p:sp>
      <p:cxnSp>
        <p:nvCxnSpPr>
          <p:cNvPr id="80" name="直接箭头连接符 37"/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2114550" y="2362200"/>
            <a:ext cx="398145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97316"/>
            </a:solidFill>
            <a:prstDash val="solid"/>
            <a:tailEnd type="triangle" w="sm" len="sm"/>
          </a:ln>
        </p:spPr>
      </p:cxnSp>
      <p:cxnSp>
        <p:nvCxnSpPr>
          <p:cNvPr id="81" name="直接箭头连接符 38"/>
          <p:cNvCxnSpPr>
            <a:stCxn xmlns:a="http://schemas.openxmlformats.org/drawingml/2006/main" id="4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96000" y="2362200"/>
            <a:ext cx="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  <a:tailEnd type="triangle" w="sm" len="sm"/>
          </a:ln>
        </p:spPr>
      </p:cxnSp>
      <p:cxnSp>
        <p:nvCxnSpPr>
          <p:cNvPr id="82" name="直接箭头连接符 39"/>
          <p:cNvCxnSpPr>
            <a:stCxn xmlns:a="http://schemas.openxmlformats.org/drawingml/2006/main" id="4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96000" y="2362200"/>
            <a:ext cx="398145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dash"/>
            <a:tailEnd type="triangle" w="sm" len="sm"/>
          </a:ln>
        </p:spPr>
      </p:cxn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E8CC100-FFA8-4472-803C-5333AD5E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1719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已运行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B93C813-03B2-4708-BCDA-2590EA95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1719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已运行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AF1302DC-6656-4A9D-8068-043B0165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1719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当前禁用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43EA28AA-A23F-4D0D-A363-F8F17CD9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8204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椭圆 18">
            <a:extLst xmlns:a="http://schemas.openxmlformats.org/drawingml/2006/main">
              <a:ext uri="{FF2B5EF4-FFF2-40B4-BE49-F238E27FC236}">
                <a16:creationId xmlns:a16="http://schemas.microsoft.com/office/drawing/2014/main" id="{4C0E1CBD-6D62-4B9A-BD18-97F08D51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72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5E11014-B254-4D78-9457-57DB7B2B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Resources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EDAA7417-A9A0-4E05-87A2-BD5CBA57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14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SHACL TTL　·　license whitelist　·　OpenAPI　·　JSON Schema</a:t>
            </a:r>
          </a:p>
        </p:txBody>
      </p:sp>
      <p:sp>
        <p:nvSpPr>
          <p:cNvPr id="22" name="椭圆 21">
            <a:extLst xmlns:a="http://schemas.openxmlformats.org/drawingml/2006/main">
              <a:ext uri="{FF2B5EF4-FFF2-40B4-BE49-F238E27FC236}">
                <a16:creationId xmlns:a16="http://schemas.microsoft.com/office/drawing/2014/main" id="{CCF426BD-06E3-4BF4-9D0B-07E7DEAA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14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709AA96F-1F92-4039-AA16-CFB79C3E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467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Samples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E4660AFC-E3F4-4F90-B061-E96234BD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391150"/>
            <a:ext cx="814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valid / invalid metadata　·　mock API response　·　PDF reports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13795BA9-0A58-4EF5-B80C-ED4E86B7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DSSC TOOLBOX · INTEROPERABILITY TEST BED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E4568893-20A4-4788-8D86-7BE7DF25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293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853425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28FA833-CBAC-494B-B8A1-6EC44B76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TTL 设计逻辑：从 Metadata 风险到 SHACL 约束</a:t>
            </a:r>
            <a:endParaRPr sz="2850" b="1">
              <a:solidFill>
                <a:srgbClr val="0F17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0A488A5-7F2E-40E3-9DD4-F9613C53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先理解 JSON-LD 结构和真实输入风险，再把它们写成 Validator 可执行的规则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282FD100-0C98-4CF6-B512-628955CB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1087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76EFDFF6-F54D-46F5-A2EE-459B5422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47875"/>
            <a:ext cx="190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2117D060-9DA8-424D-B9EA-CD4D018E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47875"/>
            <a:ext cx="190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CD94A311-45C2-409C-8285-E423205D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47875"/>
            <a:ext cx="190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AEF2E52F-8A72-4211-9A94-5ED65E34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3335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D608A07-BF35-47A1-BCA2-32CB023A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1  输入结构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BC33B6BC-7B84-48FE-A788-68A9D3F1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8120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JSON-LD + @context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解析成 RDF graph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A998428D-E367-4253-87B9-C4F22580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581150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85A02CA-7BDF-4B73-BAE3-E06B6E05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14500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2  用户风险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CF3AE65-824D-47CE-8895-8CC12E95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8120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缺失 / 多值 / 错值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时间倒序 · HTTP · 额外字段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D296426D-77F3-45E5-90B5-FC8E00B5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581150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47E1437-3B64-4999-9A1C-B9FDAD59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14500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3  规则转化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1A545E3-1DB6-4F12-8992-817011A3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8120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min/maxCount · sh:in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SPARQL · sh:closed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4B2728FE-0832-4D11-B4E5-338996E4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81150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AD0962B0-B68C-4DE8-ABA2-9E08C85F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4  Validator 结果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9E919DC-9861-4257-902B-F3ABAF5E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8120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Conforms / Violation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path · value · message</a:t>
            </a:r>
          </a:p>
        </p:txBody>
      </p:sp>
      <p:sp>
        <p:nvSpPr>
          <p:cNvPr id="19" name="矩形: 圆角 18">
            <a:extLst xmlns:a="http://schemas.openxmlformats.org/drawingml/2006/main">
              <a:ext uri="{FF2B5EF4-FFF2-40B4-BE49-F238E27FC236}">
                <a16:creationId xmlns:a16="http://schemas.microsoft.com/office/drawing/2014/main" id="{4DBF4A02-922D-4887-B178-9A8475E0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81025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3335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F65F82B-D585-458E-9A6D-0338923F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最终 TTL 把风险落实为 7 类检查</a:t>
            </a:r>
          </a:p>
        </p:txBody>
      </p:sp>
      <p:sp>
        <p:nvSpPr>
          <p:cNvPr id="21" name="ttl-code">
            <a:extLst xmlns:a="http://schemas.openxmlformats.org/drawingml/2006/main">
              <a:ext uri="{FF2B5EF4-FFF2-40B4-BE49-F238E27FC236}">
                <a16:creationId xmlns:a16="http://schemas.microsoft.com/office/drawing/2014/main" id="{ACE686CF-1F9E-495F-BABB-592AFB59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52578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4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① Dataset：恰好 1 个 dcat:Dataset，且节点是 IRI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4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② 必填字符串：存在、单值、非空白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4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③ 枚举：format=application/json · frequency=hourly · unit=kWh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4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④ 时间：xsd:date，且 temporalStart ≤ temporalEnd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4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⑤ Endpoint：必填、唯一、IRI、HTTPS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4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⑥ License：TTL 中可选；提供时唯一、IRI、HTTPS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4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⑦ Profile 外字段：Closed Shape 拒绝</a:t>
            </a:r>
          </a:p>
        </p:txBody>
      </p:sp>
      <p:sp>
        <p:nvSpPr>
          <p:cNvPr id="22" name="矩形: 圆角 21">
            <a:extLst xmlns:a="http://schemas.openxmlformats.org/drawingml/2006/main">
              <a:ext uri="{FF2B5EF4-FFF2-40B4-BE49-F238E27FC236}">
                <a16:creationId xmlns:a16="http://schemas.microsoft.com/office/drawing/2014/main" id="{A1E811D5-BE01-492F-AB16-BC7C6117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57500"/>
            <a:ext cx="47244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8098731-2D26-497A-9C8D-13DACC45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480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相比原 TTL：新增严验证，并明确边界</a:t>
            </a:r>
          </a:p>
        </p:txBody>
      </p:sp>
      <p:sp>
        <p:nvSpPr>
          <p:cNvPr id="24" name="直接连接符 23">
            <a:extLst xmlns:a="http://schemas.openxmlformats.org/drawingml/2006/main">
              <a:ext uri="{FF2B5EF4-FFF2-40B4-BE49-F238E27FC236}">
                <a16:creationId xmlns:a16="http://schemas.microsoft.com/office/drawing/2014/main" id="{950D31AB-2CBD-42F0-8B9C-9BFF7638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09975"/>
            <a:ext cx="1524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31A82276-EFCE-4880-903B-5AA67201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9567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防空白 / 多值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A7EDB0B7-EC95-41A8-986C-1D65682A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95675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minLength · \S · maxCount</a:t>
            </a:r>
          </a:p>
        </p:txBody>
      </p:sp>
      <p:sp>
        <p:nvSpPr>
          <p:cNvPr id="27" name="直接连接符 26">
            <a:extLst xmlns:a="http://schemas.openxmlformats.org/drawingml/2006/main">
              <a:ext uri="{FF2B5EF4-FFF2-40B4-BE49-F238E27FC236}">
                <a16:creationId xmlns:a16="http://schemas.microsoft.com/office/drawing/2014/main" id="{2DE5F36A-3711-40C6-A341-FDD569A8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90975"/>
            <a:ext cx="1524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919475F2-4825-4EFE-B1A5-01E7884E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7667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防绕过 / 补字段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DE29A830-B08A-4720-BCC1-CBAFE07D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76675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sh:in · frequency · License</a:t>
            </a:r>
          </a:p>
        </p:txBody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C36A790E-CF24-4033-8055-153154F6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371975"/>
            <a:ext cx="1524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BAF6D1D8-F739-4119-A731-ABE88611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5767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补语义逻辑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6E2C46C4-81D2-474E-ADC4-0D8A5BBF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57675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HTTPS · temporalStart ≤ temporalEnd</a:t>
            </a:r>
          </a:p>
        </p:txBody>
      </p:sp>
      <p:sp>
        <p:nvSpPr>
          <p:cNvPr id="33" name="直接连接符 32">
            <a:extLst xmlns:a="http://schemas.openxmlformats.org/drawingml/2006/main">
              <a:ext uri="{FF2B5EF4-FFF2-40B4-BE49-F238E27FC236}">
                <a16:creationId xmlns:a16="http://schemas.microsoft.com/office/drawing/2014/main" id="{3689E73C-BCEC-4F61-8E2D-5E44C307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52975"/>
            <a:ext cx="1524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B6ADDB9F-5AA2-4EF2-AAF3-93A27DDA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3867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补提交范围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5A076F0D-27BB-4916-8503-06CA4FAB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38675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Dataset 数量/IRI · Closed Shape</a:t>
            </a:r>
          </a:p>
        </p:txBody>
      </p:sp>
      <p:sp>
        <p:nvSpPr>
          <p:cNvPr id="36" name="直接连接符 35">
            <a:extLst xmlns:a="http://schemas.openxmlformats.org/drawingml/2006/main">
              <a:ext uri="{FF2B5EF4-FFF2-40B4-BE49-F238E27FC236}">
                <a16:creationId xmlns:a16="http://schemas.microsoft.com/office/drawing/2014/main" id="{B8A48D1D-992A-4334-8028-FC86F39B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133975"/>
            <a:ext cx="1524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CC8858E0-4D76-48D7-B82A-2D0EBF3B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1967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边界仍不变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0575582E-A990-4659-AE18-20B052C1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019675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API 在线/响应 → ITB HTTP Step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68F3A788-CFDE-40AE-8787-A7A2A9F5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DSSC TOOLBOX · INTEROPERABILITY TEST BED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0A444A8B-30A3-43F4-880C-75C95620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926931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1D9018-BFB0-48D6-A467-EA1BD27C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TC01：SOAP Validator 执行 SHACL metadata 验证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F1E4A3F-C1C0-4436-96BA-E7B6660A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当前状态：已实现、已运行；这是 D 组最核心的 metadata validation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FF86811-7EA7-438C-85B8-8BCDB99C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1087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B27DCC2D-71AC-4B73-8086-2D2C9880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15811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3335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E0DEE54-0F58-4BFB-A5FC-191D5B53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9725"/>
            <a:ext cx="1390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上传 JSON-LD</a:t>
            </a:r>
          </a:p>
        </p:txBody>
      </p:sp>
      <p:sp>
        <p:nvSpPr>
          <p:cNvPr id="6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BD86D038-F242-42CC-B7BA-032E8927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62100"/>
            <a:ext cx="15811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463B7CF-A170-4334-9C82-070AF58C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609725"/>
            <a:ext cx="1390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ITB &lt;verify&gt;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BC54F7C8-3073-43C2-9D45-063A1AC7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62100"/>
            <a:ext cx="15811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13335">
            <a:solidFill>
              <a:srgbClr val="F9731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4BA73B4-3905-49E8-B9D2-CD418140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09725"/>
            <a:ext cx="1390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SOAP API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309A77DF-874C-456E-9208-C0896A5C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62100"/>
            <a:ext cx="15811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13335">
            <a:solidFill>
              <a:srgbClr val="F9731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9C3E287-1889-48EA-A5BA-F4C9F9AF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09725"/>
            <a:ext cx="1390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SHACL Validator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96380EE8-53D7-47D4-8D8E-DAF407CA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62100"/>
            <a:ext cx="15811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1835145-A47C-4A8A-915E-10ECD2EF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09725"/>
            <a:ext cx="1390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TTL Rules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473DA31F-0740-4526-95F0-ACB4F25B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562100"/>
            <a:ext cx="15811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3335">
            <a:solidFill>
              <a:srgbClr val="6474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1B749BB-5DEE-4980-BBF9-D1843471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609725"/>
            <a:ext cx="1390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GITB Report</a:t>
            </a:r>
          </a:p>
        </p:txBody>
      </p:sp>
      <p:cxnSp>
        <p:nvCxnSpPr>
          <p:cNvPr id="117" name="直接箭头连接符 50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133600" y="18573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tailEnd type="triangle" w="sm" len="sm"/>
          </a:ln>
        </p:spPr>
      </p:cxnSp>
      <p:cxnSp>
        <p:nvCxnSpPr>
          <p:cNvPr id="118" name="直接箭头连接符 51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057650" y="18573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97316"/>
            </a:solidFill>
            <a:prstDash val="solid"/>
            <a:tailEnd type="triangle" w="sm" len="sm"/>
          </a:ln>
        </p:spPr>
      </p:cxnSp>
      <p:cxnSp>
        <p:nvCxnSpPr>
          <p:cNvPr id="119" name="直接箭头连接符 52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981700" y="18573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97316"/>
            </a:solidFill>
            <a:prstDash val="solid"/>
            <a:tailEnd type="triangle" w="sm" len="sm"/>
          </a:ln>
        </p:spPr>
      </p:cxnSp>
      <p:cxnSp>
        <p:nvCxnSpPr>
          <p:cNvPr id="120" name="直接箭头连接符 53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905750" y="18573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59669"/>
            </a:solidFill>
            <a:prstDash val="solid"/>
            <a:tailEnd type="triangle" w="sm" len="sm"/>
          </a:ln>
        </p:spPr>
      </p:cxnSp>
      <p:cxnSp>
        <p:nvCxnSpPr>
          <p:cNvPr id="121" name="直接箭头连接符 54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829800" y="18573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triangle" w="sm" len="sm"/>
          </a:ln>
        </p:spPr>
      </p:cxn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CDD60E7E-66D7-4703-A96F-F32CB512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Invalid 样例实际发现 3 个错误</a:t>
            </a:r>
          </a:p>
        </p:txBody>
      </p:sp>
      <p:sp>
        <p:nvSpPr>
          <p:cNvPr id="22" name="矩形: 圆角 21">
            <a:extLst xmlns:a="http://schemas.openxmlformats.org/drawingml/2006/main">
              <a:ext uri="{FF2B5EF4-FFF2-40B4-BE49-F238E27FC236}">
                <a16:creationId xmlns:a16="http://schemas.microsoft.com/office/drawing/2014/main" id="{46858E92-A54A-441B-A430-956A4958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49530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FCA5A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E5ABB974-22FA-428A-8D07-EE6CD676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3D9035D0-0E11-4D49-AF5B-B90A8D67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8137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unit = MWh，规则要求 kWh</a:t>
            </a:r>
          </a:p>
        </p:txBody>
      </p:sp>
      <p:sp>
        <p:nvSpPr>
          <p:cNvPr id="25" name="矩形: 圆角 24">
            <a:extLst xmlns:a="http://schemas.openxmlformats.org/drawingml/2006/main">
              <a:ext uri="{FF2B5EF4-FFF2-40B4-BE49-F238E27FC236}">
                <a16:creationId xmlns:a16="http://schemas.microsoft.com/office/drawing/2014/main" id="{A29860FE-76FD-46C0-BB0A-CABAB6C9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530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FCA5A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C9DE29F0-5145-493C-9A87-39B6C21D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243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BEACB72-7B2D-4911-B341-7CBAA11F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8622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缺少 temporalEnd</a:t>
            </a:r>
          </a:p>
        </p:txBody>
      </p: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1CDA7EBC-BA9B-432C-8880-40AE7802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49530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FCA5A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24FCF631-C836-40D8-8D3D-E23D7931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2917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73570104-0FD1-469E-A1FA-BA305324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9107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缺少 providerName</a:t>
            </a:r>
          </a:p>
        </p:txBody>
      </p:sp>
      <p:sp>
        <p:nvSpPr>
          <p:cNvPr id="31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724C92B8-53D5-413A-9D06-93E4F6A6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47950"/>
            <a:ext cx="5391150" cy="32575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33" name="图片 6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b4b2894d844edd"/>
          <a:stretch xmlns:a="http://schemas.openxmlformats.org/drawingml/2006/main"/>
        </p:blipFill>
        <p:spPr>
          <a:xfrm xmlns:a="http://schemas.openxmlformats.org/drawingml/2006/main">
            <a:off x="6524136" y="2838450"/>
            <a:ext cx="1982179" cy="2857500"/>
          </a:xfrm>
          <a:prstGeom xmlns:a="http://schemas.openxmlformats.org/drawingml/2006/main" prst="roundRect">
            <a:avLst>
              <a:gd name="adj" fmla="val 5217"/>
            </a:avLst>
          </a:prstGeom>
        </p:spPr>
      </p:pic>
      <p:pic>
        <p:nvPicPr>
          <p:cNvPr id="134" name="图片 6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203704338e4366"/>
          <a:stretch xmlns:a="http://schemas.openxmlformats.org/drawingml/2006/main"/>
        </p:blipFill>
        <p:spPr>
          <a:xfrm xmlns:a="http://schemas.openxmlformats.org/drawingml/2006/main">
            <a:off x="8924436" y="2838450"/>
            <a:ext cx="1982179" cy="2857500"/>
          </a:xfrm>
          <a:prstGeom xmlns:a="http://schemas.openxmlformats.org/drawingml/2006/main" prst="roundRect">
            <a:avLst>
              <a:gd name="adj" fmla="val 5217"/>
            </a:avLst>
          </a:prstGeom>
        </p:spPr>
      </p:pic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A9EB6026-CD9A-4904-973F-7BFBDB44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DSSC TOOLBOX · INTEROPERABILITY TEST BED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6D66F218-743E-4ED9-8769-20F4351E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014426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5E2F62-8EF5-48BE-881A-9DFCCA91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TC02 不调用外部 SHACL Validator，而是组合 ITB Handler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A95E0A9-C140-4101-AB1D-93CE4FA5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目标：metadata 必须声明唯一的 license，并且它必须位于 Authority 白名单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99E4F7EE-757C-4706-8F3F-6915262B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1087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B7FF0341-D400-4C7D-8DDE-F1E7CA99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038600" cy="4343400"/>
          </a:xfrm>
          <a:prstGeom xmlns:a="http://schemas.openxmlformats.org/drawingml/2006/main" prst="roundRect">
            <a:avLst>
              <a:gd name="adj" fmla="val 3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AAE707C-E6DA-4B8E-83FF-0D8D3A2A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478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执行机制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27CDF8D-8338-4F62-ADFC-F8FC810F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33909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1  RdfUtils：按 RDF 语义提取 dct:license</a:t>
            </a:r>
          </a:p>
          <a:p xmlns:a="http://schemas.openxmlformats.org/drawingml/2006/main">
            <a:endParaRPr sz="1350" b="0">
              <a:solidFill>
                <a:srgbClr val="0F172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2  NumberValidator：检查数量恰好为 1</a:t>
            </a:r>
          </a:p>
          <a:p xmlns:a="http://schemas.openxmlformats.org/drawingml/2006/main">
            <a:endParaRPr sz="1350" b="0">
              <a:solidFill>
                <a:srgbClr val="0F172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3  JsonPathProcessor：读取白名单</a:t>
            </a:r>
          </a:p>
          <a:p xmlns:a="http://schemas.openxmlformats.org/drawingml/2006/main">
            <a:endParaRPr sz="1350" b="0">
              <a:solidFill>
                <a:srgbClr val="0F172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4  CollectionUtils：判断是否包含</a:t>
            </a:r>
          </a:p>
          <a:p xmlns:a="http://schemas.openxmlformats.org/drawingml/2006/main">
            <a:endParaRPr sz="1350" b="0">
              <a:solidFill>
                <a:srgbClr val="0F172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5  ExpressionValidator：输出 PASS / FAIL</a:t>
            </a:r>
          </a:p>
        </p:txBody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F3F25D93-CD25-40F6-8FE1-4DDCB1CF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05400"/>
            <a:ext cx="33909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6FDA7F7-5065-489B-8F3D-2A30F3A4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0175"/>
            <a:ext cx="312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外部 SHACL Validator：未使用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E9B8D379-91D5-4CCE-B18C-EA608564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581150"/>
            <a:ext cx="6343650" cy="4343400"/>
          </a:xfrm>
          <a:prstGeom xmlns:a="http://schemas.openxmlformats.org/drawingml/2006/main" prst="roundRect">
            <a:avLst>
              <a:gd name="adj" fmla="val 30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c052714c53485f"/>
          <a:stretch xmlns:a="http://schemas.openxmlformats.org/drawingml/2006/main"/>
        </p:blipFill>
        <p:spPr>
          <a:xfrm xmlns:a="http://schemas.openxmlformats.org/drawingml/2006/main">
            <a:off x="6925108" y="1752600"/>
            <a:ext cx="2818534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1AD55C2-2D9C-4D35-8A8A-1806F657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DSSC TOOLBOX · INTEROPERABILITY TEST BED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9570C83-C43C-4F41-ACA6-BDFABE87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005362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F8BAC78-1926-47F3-B14D-817DBEDC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TC03：API 响应验证已设计，但当前未启用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4297C4B-F12F-45DD-BB1C-0D315422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状态：Designed, but disabled — 不能把它作为已经跑通的成果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4D34AE49-E025-44EE-99BE-F54CB465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1087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2AE93E17-BB1D-4F05-93B3-A325F703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038600" cy="4343400"/>
          </a:xfrm>
          <a:prstGeom xmlns:a="http://schemas.openxmlformats.org/drawingml/2006/main" prst="roundRect">
            <a:avLst>
              <a:gd name="adj" fmla="val 3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66308483-B57E-443E-9CCE-BB20C9B9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9750"/>
            <a:ext cx="33909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CDB3D8A-6584-4655-B019-D1888AFC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0500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DESIGNED · DISABLED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6B56485-A3F6-4E06-8DF1-FF59D479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计划验证内容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A442D09-BA04-46BC-9788-B5E88495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33909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• 从 metadata 提取 endpointURL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• 发起 HTTP GET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• 检查 Status = 200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• 检查 Content-Type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• 使用 JSON Schema 检查响应结构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A611EF05-5A1A-444C-8479-BF906279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43500"/>
            <a:ext cx="33909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13335">
            <a:solidFill>
              <a:srgbClr val="6474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9EC10AB-9172-415F-B29D-DAB8C654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3875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外部 SHACL Validator：不用于响应体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E4227C98-E07C-4BEA-9A68-CD848B4F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581150"/>
            <a:ext cx="6343650" cy="4343400"/>
          </a:xfrm>
          <a:prstGeom xmlns:a="http://schemas.openxmlformats.org/drawingml/2006/main" prst="roundRect">
            <a:avLst>
              <a:gd name="adj" fmla="val 30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0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5552156110479d"/>
          <a:stretch xmlns:a="http://schemas.openxmlformats.org/drawingml/2006/main"/>
        </p:blipFill>
        <p:spPr>
          <a:xfrm xmlns:a="http://schemas.openxmlformats.org/drawingml/2006/main">
            <a:off x="5905500" y="2114239"/>
            <a:ext cx="2266950" cy="3277221"/>
          </a:xfrm>
          <a:prstGeom xmlns:a="http://schemas.openxmlformats.org/drawingml/2006/main" prst="roundRect">
            <a:avLst>
              <a:gd name="adj" fmla="val 5042"/>
            </a:avLst>
          </a:prstGeom>
        </p:spPr>
      </p:pic>
      <p:pic>
        <p:nvPicPr>
          <p:cNvPr id="31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bf0e81d8dd46cf"/>
          <a:stretch xmlns:a="http://schemas.openxmlformats.org/drawingml/2006/main"/>
        </p:blipFill>
        <p:spPr>
          <a:xfrm xmlns:a="http://schemas.openxmlformats.org/drawingml/2006/main">
            <a:off x="8439150" y="2114239"/>
            <a:ext cx="2266950" cy="3277221"/>
          </a:xfrm>
          <a:prstGeom xmlns:a="http://schemas.openxmlformats.org/drawingml/2006/main" prst="roundRect">
            <a:avLst>
              <a:gd name="adj" fmla="val 5042"/>
            </a:avLst>
          </a:prstGeom>
        </p:spPr>
      </p:pic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0232E4F-F469-4429-8730-E51799F5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DSSC TOOLBOX · INTEROPERABILITY TEST BED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8DFD093-6087-4A16-828C-C0C5DA71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729339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263439-6E9F-4267-8508-ED28AA83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四次实际 Test Session 证明：规则可执行，错误可定位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CDB0C19-9377-447E-AA1F-D66FF5E7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TC01、TC02 已形成成功与失败证据；TC03 仍属于后续扩展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3D909A79-B58C-428D-872B-74E3FFC6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1087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B531A96E-8CB1-4B98-A242-C60327B9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23812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13335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A3CA566-9B21-4858-B906-A24F5177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6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3AC0AA80-5A49-41E6-94E7-D89218A2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562100"/>
            <a:ext cx="16192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13335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E082613-2129-4255-9C78-51135957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573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TC01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70EDF50F-0180-4978-B588-B9203892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562100"/>
            <a:ext cx="24574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13335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F6756E9-71B8-4A97-A612-BB579392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5735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TC02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511DE185-8B0A-4170-A660-E41CF5A1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23812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5B00738-143D-4C60-BC3B-B56D16B2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2228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Valid metadata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117ED254-528E-4182-8F56-8D8A49CC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52650"/>
            <a:ext cx="16192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C43F56A-5A0D-4E33-876E-B8354C56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2885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rPr>
              <a:t>SUCCESS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13F8EF5E-530F-4635-B5AA-8EFC3CFC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52650"/>
            <a:ext cx="24574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4B238E3-500F-48EB-B1FE-0507139A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28850"/>
            <a:ext cx="2305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rPr>
              <a:t>SUCCESS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2E7CFD69-0D1F-4297-A57E-F4927AD8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43200"/>
            <a:ext cx="23812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36269A1-5194-42D1-BBE3-7BA79298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19400"/>
            <a:ext cx="2228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Invalid metadata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777B5BA6-8D76-4925-858A-4A4EC17E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43200"/>
            <a:ext cx="16192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9C0BD78-222F-4CF9-B085-F13D1C49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1940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FAILURE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3 项错误</a:t>
            </a:r>
          </a:p>
        </p:txBody>
      </p:sp>
      <p:sp>
        <p:nvSpPr>
          <p:cNvPr id="20" name="矩形: 圆角 19">
            <a:extLst xmlns:a="http://schemas.openxmlformats.org/drawingml/2006/main">
              <a:ext uri="{FF2B5EF4-FFF2-40B4-BE49-F238E27FC236}">
                <a16:creationId xmlns:a16="http://schemas.microsoft.com/office/drawing/2014/main" id="{288252B7-33B5-4875-8CBC-49873916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43200"/>
            <a:ext cx="24574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486EFED6-BC59-4D8F-B430-9EEB4FF3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19400"/>
            <a:ext cx="2305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FAILURE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缺少 license</a:t>
            </a:r>
          </a:p>
        </p:txBody>
      </p:sp>
      <p:sp>
        <p:nvSpPr>
          <p:cNvPr id="22" name="矩形: 圆角 21">
            <a:extLst xmlns:a="http://schemas.openxmlformats.org/drawingml/2006/main">
              <a:ext uri="{FF2B5EF4-FFF2-40B4-BE49-F238E27FC236}">
                <a16:creationId xmlns:a16="http://schemas.microsoft.com/office/drawing/2014/main" id="{6DD76CF8-B652-4FB5-8BBD-5817C581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645795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5" name="图片 5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da3418f9da4ee7"/>
          <a:stretch xmlns:a="http://schemas.openxmlformats.org/drawingml/2006/main"/>
        </p:blipFill>
        <p:spPr>
          <a:xfrm xmlns:a="http://schemas.openxmlformats.org/drawingml/2006/main">
            <a:off x="2453175" y="3829050"/>
            <a:ext cx="2656500" cy="1866900"/>
          </a:xfrm>
          <a:prstGeom xmlns:a="http://schemas.openxmlformats.org/drawingml/2006/main" prst="roundRect">
            <a:avLst>
              <a:gd name="adj" fmla="val 6122"/>
            </a:avLst>
          </a:prstGeom>
        </p:spPr>
      </p:pic>
      <p:sp>
        <p:nvSpPr>
          <p:cNvPr id="24" name="矩形: 圆角 23">
            <a:extLst xmlns:a="http://schemas.openxmlformats.org/drawingml/2006/main">
              <a:ext uri="{FF2B5EF4-FFF2-40B4-BE49-F238E27FC236}">
                <a16:creationId xmlns:a16="http://schemas.microsoft.com/office/drawing/2014/main" id="{FF7F201E-59BC-4278-8961-B06ABCD4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62100"/>
            <a:ext cx="4171950" cy="42672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7" name="图片 5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0fc16b6d1448de"/>
          <a:stretch xmlns:a="http://schemas.openxmlformats.org/drawingml/2006/main"/>
        </p:blipFill>
        <p:spPr>
          <a:xfrm xmlns:a="http://schemas.openxmlformats.org/drawingml/2006/main">
            <a:off x="7524750" y="1964572"/>
            <a:ext cx="3790950" cy="2681206"/>
          </a:xfrm>
          <a:prstGeom xmlns:a="http://schemas.openxmlformats.org/drawingml/2006/main" prst="roundRect">
            <a:avLst>
              <a:gd name="adj" fmla="val 3681"/>
            </a:avLst>
          </a:prstGeom>
        </p:spPr>
      </p:pic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C2B222CA-29BE-4105-9E68-4C8F95BF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29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A3154D25-7AB6-498C-BB98-C54766F4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53050"/>
            <a:ext cx="373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TC01 / TC02 已运行；TC03 当前禁用。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本项目验证 metadata，不代表生产级数据交换。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03902394-26E3-4C0F-8A63-4687E7B7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DSSC TOOLBOX · INTEROPERABILITY TEST BED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83D796E3-E7A1-48D6-BBD1-3DE7D46D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538391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93EED49-7D90-48CA-B655-93928353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8380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感谢聆听！</a:t>
            </a:r>
          </a:p>
        </p:txBody>
      </p:sp>
      <p:sp>
        <p:nvSpPr>
          <p:cNvPr id="3" name="矩形: 圆角 2">
            <a:extLst xmlns:a="http://schemas.openxmlformats.org/drawingml/2006/main">
              <a:ext uri="{FF2B5EF4-FFF2-40B4-BE49-F238E27FC236}">
                <a16:creationId xmlns:a16="http://schemas.microsoft.com/office/drawing/2014/main" id="{EC0F122E-C486-4DD5-873A-E4DAED8F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723900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172554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D52E195-52E6-4499-98EB-BC0AD61C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57675"/>
            <a:ext cx="678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BFD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FDBFE"/>
                </a:solidFill>
                <a:latin typeface="Microsoft YaHei"/>
                <a:ea typeface="Microsoft YaHei"/>
                <a:cs typeface="Microsoft YaHei"/>
              </a:rPr>
              <a:t>https://github.com/ttommybot/DSSC_Toolbox_ITB_with_Validator</a:t>
            </a:r>
          </a:p>
        </p:txBody>
      </p:sp>
    </p:spTree>
    <p:extLst>
      <p:ext uri="{BB962C8B-B14F-4D97-AF65-F5344CB8AC3E}">
        <p14:creationId xmlns:p14="http://schemas.microsoft.com/office/powerpoint/2010/main" val="10411820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2026-08-20T18:27:43.0100000Z</dcterms:created>
  <dcterms:modified xsi:type="dcterms:W3CDTF">2026-08-20T18:27:43.0100000Z</dcterms:modified>
</coreProperties>
</file>